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637"/>
    <p:restoredTop sz="94638"/>
  </p:normalViewPr>
  <p:slideViewPr>
    <p:cSldViewPr snapToGrid="0" snapToObjects="1">
      <p:cViewPr varScale="1">
        <p:scale>
          <a:sx n="84" d="100"/>
          <a:sy n="84" d="100"/>
        </p:scale>
        <p:origin x="184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9A7B2-7852-9342-896C-243CDE3099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011CC-39EE-3340-A567-CB8CD4740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4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011CC-39EE-3340-A567-CB8CD4740F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08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011CC-39EE-3340-A567-CB8CD4740F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09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1138"/>
            <a:ext cx="8229600" cy="1923210"/>
          </a:xfrm>
        </p:spPr>
        <p:txBody>
          <a:bodyPr>
            <a:no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Automated Music Genre Classification Using Spotify Audio Features</a:t>
            </a:r>
            <a:br>
              <a:rPr lang="en-US" sz="3600" dirty="0"/>
            </a:br>
            <a:r>
              <a:rPr lang="en-US" sz="2800" dirty="0"/>
              <a:t>An Interpretable Statistical Analysis</a:t>
            </a:r>
            <a:endParaRPr sz="28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93059" y="12163612"/>
            <a:ext cx="1407459" cy="1923210"/>
          </a:xfrm>
        </p:spPr>
        <p:txBody>
          <a:bodyPr>
            <a:normAutofit/>
          </a:bodyPr>
          <a:lstStyle/>
          <a:p>
            <a:pPr marL="0" indent="0" algn="ctr">
              <a:buNone/>
              <a:defRPr sz="1800">
                <a:solidFill>
                  <a:srgbClr val="000000"/>
                </a:solidFill>
                <a:latin typeface="Arial"/>
              </a:defRPr>
            </a:pPr>
            <a:endParaRPr lang="en-US" sz="3600" dirty="0"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sz="3600" dirty="0">
                <a:latin typeface="Calibr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38AD4BE-63C6-CFCE-6A62-0A95490813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816259"/>
            <a:ext cx="8229599" cy="383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Music streaming platforms rely on genre labels</a:t>
            </a:r>
          </a:p>
          <a:p>
            <a:r>
              <a:rPr lang="en-US" dirty="0"/>
              <a:t>Genre labels support recommendations and discovery</a:t>
            </a:r>
          </a:p>
          <a:p>
            <a:r>
              <a:rPr lang="en-US" dirty="0"/>
              <a:t>Manual labeling is inconsistent and difficult to scale</a:t>
            </a:r>
          </a:p>
          <a:p>
            <a:r>
              <a:rPr lang="en-US" dirty="0"/>
              <a:t>Many genres overlap in sound characteristics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Research Question &amp; Hypothesis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789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Can audio features be used to classify music genres?</a:t>
            </a:r>
          </a:p>
          <a:p>
            <a:r>
              <a:rPr lang="en-US" dirty="0"/>
              <a:t>Focus on 20 widely recognized genres</a:t>
            </a:r>
          </a:p>
          <a:p>
            <a:r>
              <a:rPr lang="en-US" dirty="0"/>
              <a:t>Hypothesis:</a:t>
            </a:r>
          </a:p>
          <a:p>
            <a:r>
              <a:rPr lang="en-US" dirty="0"/>
              <a:t>Spotify audio features significantly influence genre classification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36C15-17B2-71B3-3B58-9B93DEA61022}"/>
              </a:ext>
            </a:extLst>
          </p:cNvPr>
          <p:cNvSpPr txBox="1"/>
          <p:nvPr/>
        </p:nvSpPr>
        <p:spPr>
          <a:xfrm>
            <a:off x="4642338" y="22508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Data Overview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Spotify audio features dataset</a:t>
            </a:r>
          </a:p>
          <a:p>
            <a:pPr lvl="0"/>
            <a:r>
              <a:rPr lang="en-US" dirty="0"/>
              <a:t>~114,000 tracks across 114 genres</a:t>
            </a:r>
          </a:p>
          <a:p>
            <a:pPr lvl="0"/>
            <a:r>
              <a:rPr lang="en-US" dirty="0"/>
              <a:t>Balanced subset:</a:t>
            </a:r>
          </a:p>
          <a:p>
            <a:pPr lvl="1"/>
            <a:r>
              <a:rPr lang="en-US" sz="3200" dirty="0"/>
              <a:t>20 genres</a:t>
            </a:r>
          </a:p>
          <a:p>
            <a:pPr lvl="1"/>
            <a:r>
              <a:rPr lang="en-US" sz="3200" dirty="0"/>
              <a:t>20,000 tracks total</a:t>
            </a:r>
          </a:p>
          <a:p>
            <a:pPr lvl="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Audio Features Used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Tempo and loudness</a:t>
            </a:r>
          </a:p>
          <a:p>
            <a:pPr lvl="0"/>
            <a:r>
              <a:rPr lang="en-US" dirty="0"/>
              <a:t>Energy and danceability</a:t>
            </a:r>
          </a:p>
          <a:p>
            <a:pPr lvl="0"/>
            <a:r>
              <a:rPr lang="en-US" dirty="0"/>
              <a:t>Valence (emotional tone)</a:t>
            </a:r>
          </a:p>
          <a:p>
            <a:pPr lvl="0"/>
            <a:r>
              <a:rPr lang="en-US" dirty="0" err="1"/>
              <a:t>Acousticness</a:t>
            </a:r>
            <a:r>
              <a:rPr lang="en-US" dirty="0"/>
              <a:t> and </a:t>
            </a:r>
            <a:r>
              <a:rPr lang="en-US" dirty="0" err="1"/>
              <a:t>instrumentalness</a:t>
            </a:r>
            <a:endParaRPr lang="en-US" dirty="0"/>
          </a:p>
          <a:p>
            <a:pPr lvl="0"/>
            <a:r>
              <a:rPr lang="en-US" dirty="0" err="1"/>
              <a:t>Speechiness</a:t>
            </a:r>
            <a:r>
              <a:rPr lang="en-US" dirty="0"/>
              <a:t> and liveness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Analysis Approach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Data preparation and standardization</a:t>
            </a:r>
          </a:p>
          <a:p>
            <a:pPr lvl="0"/>
            <a:r>
              <a:rPr lang="en-US" dirty="0"/>
              <a:t>Multinomial logistic regression</a:t>
            </a:r>
          </a:p>
          <a:p>
            <a:pPr lvl="0"/>
            <a:r>
              <a:rPr lang="en-US" dirty="0"/>
              <a:t>Interpretable statistical classification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Model Evaluation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Likelihood ratio testing</a:t>
            </a:r>
          </a:p>
          <a:p>
            <a:pPr lvl="0"/>
            <a:r>
              <a:rPr lang="en-US" dirty="0"/>
              <a:t>McFadden’s pseudo-R²</a:t>
            </a:r>
          </a:p>
          <a:p>
            <a:pPr lvl="0"/>
            <a:r>
              <a:rPr lang="en-US" dirty="0"/>
              <a:t>Classification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dirty="0">
                <a:latin typeface="Calibri"/>
              </a:rPr>
              <a:t>Model Performance (Optional Visual Slide)</a:t>
            </a:r>
            <a:br>
              <a:rPr lang="en-US" sz="3600" dirty="0">
                <a:latin typeface="Calibri"/>
              </a:rPr>
            </a:br>
            <a:r>
              <a:rPr lang="en-US" sz="3600" dirty="0">
                <a:latin typeface="Calibri"/>
              </a:rPr>
              <a:t>Model Accuracy Comparison</a:t>
            </a:r>
            <a:br>
              <a:rPr lang="en-US" sz="3600" dirty="0">
                <a:latin typeface="Calibri"/>
              </a:rPr>
            </a:br>
            <a:endParaRPr lang="en-US"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Logistic regression accuracy ≈ 32%</a:t>
            </a:r>
          </a:p>
          <a:p>
            <a:pPr lvl="0"/>
            <a:r>
              <a:rPr lang="en-US" dirty="0"/>
              <a:t>Random guessing ≈ 5%</a:t>
            </a:r>
          </a:p>
          <a:p>
            <a:pPr lvl="0"/>
            <a:r>
              <a:rPr lang="en-US" dirty="0"/>
              <a:t>More than 6× better than chance</a:t>
            </a:r>
          </a:p>
          <a:p>
            <a:pPr lvl="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 graph showing different sizes of scale&#10;&#10;AI-generated content may be incorrect.">
            <a:extLst>
              <a:ext uri="{FF2B5EF4-FFF2-40B4-BE49-F238E27FC236}">
                <a16:creationId xmlns:a16="http://schemas.microsoft.com/office/drawing/2014/main" id="{371C7452-FA62-9978-47F4-BD303A1D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631" y="3394718"/>
            <a:ext cx="4586737" cy="34632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Genre-Level Results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Higher performance:</a:t>
            </a:r>
          </a:p>
          <a:p>
            <a:pPr lvl="1"/>
            <a:r>
              <a:rPr lang="en-US" dirty="0"/>
              <a:t>Classical</a:t>
            </a:r>
          </a:p>
          <a:p>
            <a:pPr lvl="1"/>
            <a:r>
              <a:rPr lang="en-US" dirty="0"/>
              <a:t>Opera</a:t>
            </a:r>
          </a:p>
          <a:p>
            <a:pPr lvl="1"/>
            <a:r>
              <a:rPr lang="en-US" dirty="0"/>
              <a:t>Death metal</a:t>
            </a:r>
          </a:p>
          <a:p>
            <a:pPr lvl="0"/>
            <a:r>
              <a:rPr lang="en-US" dirty="0"/>
              <a:t>Lower performance:</a:t>
            </a:r>
          </a:p>
          <a:p>
            <a:pPr lvl="1"/>
            <a:r>
              <a:rPr lang="en-US" dirty="0"/>
              <a:t>Pop</a:t>
            </a:r>
          </a:p>
          <a:p>
            <a:pPr lvl="1"/>
            <a:r>
              <a:rPr lang="en-US" dirty="0"/>
              <a:t>Rock</a:t>
            </a:r>
          </a:p>
          <a:p>
            <a:pPr lvl="1"/>
            <a:r>
              <a:rPr lang="en-US" dirty="0"/>
              <a:t>Alternative</a:t>
            </a:r>
          </a:p>
          <a:p>
            <a:pPr lvl="1"/>
            <a:r>
              <a:rPr lang="en-US" dirty="0"/>
              <a:t>Soul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Key Feature Insights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Most influential features:</a:t>
            </a:r>
          </a:p>
          <a:p>
            <a:pPr lvl="1"/>
            <a:r>
              <a:rPr lang="en-US" dirty="0" err="1"/>
              <a:t>Acousticness</a:t>
            </a:r>
            <a:endParaRPr lang="en-US" dirty="0"/>
          </a:p>
          <a:p>
            <a:pPr lvl="1"/>
            <a:r>
              <a:rPr lang="en-US" dirty="0"/>
              <a:t>Valence</a:t>
            </a:r>
          </a:p>
          <a:p>
            <a:pPr lvl="1"/>
            <a:r>
              <a:rPr lang="en-US" dirty="0"/>
              <a:t>Danceability</a:t>
            </a:r>
          </a:p>
          <a:p>
            <a:pPr lvl="1"/>
            <a:r>
              <a:rPr lang="en-US" dirty="0"/>
              <a:t>Loudness</a:t>
            </a:r>
          </a:p>
          <a:p>
            <a:pPr lvl="0"/>
            <a:r>
              <a:rPr lang="en-US" dirty="0"/>
              <a:t>Tempo and liveness less consistent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Limitations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Overlap between music genres</a:t>
            </a:r>
          </a:p>
          <a:p>
            <a:pPr lvl="0"/>
            <a:r>
              <a:rPr lang="en-US" dirty="0"/>
              <a:t>Subjective genre labeling</a:t>
            </a:r>
          </a:p>
          <a:p>
            <a:pPr lvl="0"/>
            <a:r>
              <a:rPr lang="en-US" dirty="0"/>
              <a:t>Linear assumptions of logistic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Proposed Actions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 logistic regression as a baseline model</a:t>
            </a:r>
          </a:p>
          <a:p>
            <a:pPr lvl="0"/>
            <a:r>
              <a:rPr lang="en-US" dirty="0"/>
              <a:t>Integrate into broader modeling pipelines</a:t>
            </a:r>
          </a:p>
          <a:p>
            <a:pPr lvl="0"/>
            <a:r>
              <a:rPr lang="en-US" dirty="0"/>
              <a:t>Inform development of advanced ML models</a:t>
            </a:r>
          </a:p>
          <a:p>
            <a:pPr lvl="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Expected Benefits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Meaningful improvement over random guessing</a:t>
            </a:r>
          </a:p>
          <a:p>
            <a:pPr lvl="0"/>
            <a:r>
              <a:rPr lang="en-US" dirty="0"/>
              <a:t>Better recommendations and content discovery</a:t>
            </a:r>
          </a:p>
          <a:p>
            <a:pPr lvl="0"/>
            <a:r>
              <a:rPr lang="en-US" dirty="0"/>
              <a:t>Explainable insights for business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Conclusion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Audio features provide useful genre signal</a:t>
            </a:r>
          </a:p>
          <a:p>
            <a:pPr lvl="0"/>
            <a:r>
              <a:rPr lang="en-US" dirty="0"/>
              <a:t>Interpretable models add analytical value</a:t>
            </a:r>
          </a:p>
          <a:p>
            <a:pPr lvl="0"/>
            <a:r>
              <a:rPr lang="en-US" dirty="0"/>
              <a:t>Clear path for future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7C25-B2AC-FF1E-60DE-51C93202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8822-E95B-04F8-BD17-5DD7B2BE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3600" b="1" dirty="0"/>
              <a:t>Thank You </a:t>
            </a:r>
            <a:endParaRPr sz="3600" dirty="0"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F6AAB-C65A-BCC5-1E99-828C9BBDE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Thank you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7505DA-337C-3B6A-FB35-224E7B030CEE}"/>
              </a:ext>
            </a:extLst>
          </p:cNvPr>
          <p:cNvSpPr/>
          <p:nvPr/>
        </p:nvSpPr>
        <p:spPr>
          <a:xfrm>
            <a:off x="457200" y="1481138"/>
            <a:ext cx="8229600" cy="254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32535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270</Words>
  <Application>Microsoft Macintosh PowerPoint</Application>
  <PresentationFormat>On-screen Show (4:3)</PresentationFormat>
  <Paragraphs>72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Automated Music Genre Classification Using Spotify Audio Features An Interpretable Statistical Analysis</vt:lpstr>
      <vt:lpstr>Introduction</vt:lpstr>
      <vt:lpstr>Research Question &amp; Hypothesis</vt:lpstr>
      <vt:lpstr>Data Overview </vt:lpstr>
      <vt:lpstr>Audio Features Used </vt:lpstr>
      <vt:lpstr>Analysis Approach </vt:lpstr>
      <vt:lpstr>Model Evaluation </vt:lpstr>
      <vt:lpstr>Model Performance (Optional Visual Slide) Model Accuracy Comparison </vt:lpstr>
      <vt:lpstr>Genre-Level Results </vt:lpstr>
      <vt:lpstr>Key Feature Insights </vt:lpstr>
      <vt:lpstr>Limitations </vt:lpstr>
      <vt:lpstr>Proposed Actions </vt:lpstr>
      <vt:lpstr>Expected Benefits </vt:lpstr>
      <vt:lpstr>Conclusion 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Brittney Orais-Bonheimer</cp:lastModifiedBy>
  <cp:revision>5</cp:revision>
  <dcterms:created xsi:type="dcterms:W3CDTF">2013-01-27T09:14:16Z</dcterms:created>
  <dcterms:modified xsi:type="dcterms:W3CDTF">2026-01-09T06:30:51Z</dcterms:modified>
  <cp:category/>
</cp:coreProperties>
</file>